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1c4be943440f9" /><Relationship Type="http://schemas.openxmlformats.org/officeDocument/2006/relationships/extended-properties" Target="/docProps/app.xml" Id="Rf19faaf1714d448e" /><Relationship Type="http://schemas.openxmlformats.org/officeDocument/2006/relationships/officeDocument" Target="/ppt/presentation.xml" Id="R1de48d435b8a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7b3c1bcb804f53"/>
  </p:sldMasterIdLst>
  <p:notesMasterIdLst>
    <p:notesMasterId xmlns:r="http://schemas.openxmlformats.org/officeDocument/2006/relationships" r:id="Rb7a5adad267d45d8"/>
  </p:notesMasterIdLst>
  <p:sldIdLst>
    <p:sldId xmlns:r="http://schemas.openxmlformats.org/officeDocument/2006/relationships" id="256" r:id="R943051ff7ac7409c"/>
    <p:sldId xmlns:r="http://schemas.openxmlformats.org/officeDocument/2006/relationships" id="257" r:id="R7171f803808f4607"/>
    <p:sldId xmlns:r="http://schemas.openxmlformats.org/officeDocument/2006/relationships" id="258" r:id="Ra1c0e716884c484e"/>
    <p:sldId xmlns:r="http://schemas.openxmlformats.org/officeDocument/2006/relationships" id="259" r:id="R643ee2d62fad4111"/>
    <p:sldId xmlns:r="http://schemas.openxmlformats.org/officeDocument/2006/relationships" id="260" r:id="Rcd1f6cd0c1a34664"/>
    <p:sldId xmlns:r="http://schemas.openxmlformats.org/officeDocument/2006/relationships" id="261" r:id="Rd74ec1f100d943ad"/>
    <p:sldId xmlns:r="http://schemas.openxmlformats.org/officeDocument/2006/relationships" id="262" r:id="R6eb86708081646fe"/>
    <p:sldId xmlns:r="http://schemas.openxmlformats.org/officeDocument/2006/relationships" id="263" r:id="R9c22311ece4740f8"/>
    <p:sldId xmlns:r="http://schemas.openxmlformats.org/officeDocument/2006/relationships" id="264" r:id="Rc97759927fa340cd"/>
    <p:sldId xmlns:r="http://schemas.openxmlformats.org/officeDocument/2006/relationships" id="265" r:id="R48c4b7b460ef41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566ffeb56145d5" /><Relationship Type="http://schemas.openxmlformats.org/officeDocument/2006/relationships/slideMaster" Target="/ppt/slideMasters/slideMaster1.xml" Id="R4a7b3c1bcb804f53" /><Relationship Type="http://schemas.openxmlformats.org/officeDocument/2006/relationships/notesMaster" Target="/ppt/notesMasters/notesMaster1.xml" Id="Rb7a5adad267d45d8" /><Relationship Type="http://schemas.openxmlformats.org/officeDocument/2006/relationships/presProps" Target="/ppt/presProps.xml" Id="Rd94c166fd5bb48e7" /><Relationship Type="http://schemas.openxmlformats.org/officeDocument/2006/relationships/tableStyles" Target="/ppt/tableStyles.xml" Id="R9be78af8fb654c51" /><Relationship Type="http://schemas.openxmlformats.org/officeDocument/2006/relationships/slide" Target="/ppt/slides/slide1.xml" Id="R943051ff7ac7409c" /><Relationship Type="http://schemas.openxmlformats.org/officeDocument/2006/relationships/slide" Target="/ppt/slides/slide2.xml" Id="R7171f803808f4607" /><Relationship Type="http://schemas.openxmlformats.org/officeDocument/2006/relationships/slide" Target="/ppt/slides/slide3.xml" Id="Ra1c0e716884c484e" /><Relationship Type="http://schemas.openxmlformats.org/officeDocument/2006/relationships/slide" Target="/ppt/slides/slide4.xml" Id="R643ee2d62fad4111" /><Relationship Type="http://schemas.openxmlformats.org/officeDocument/2006/relationships/slide" Target="/ppt/slides/slide5.xml" Id="Rcd1f6cd0c1a34664" /><Relationship Type="http://schemas.openxmlformats.org/officeDocument/2006/relationships/slide" Target="/ppt/slides/slide6.xml" Id="Rd74ec1f100d943ad" /><Relationship Type="http://schemas.openxmlformats.org/officeDocument/2006/relationships/slide" Target="/ppt/slides/slide7.xml" Id="R6eb86708081646fe" /><Relationship Type="http://schemas.openxmlformats.org/officeDocument/2006/relationships/slide" Target="/ppt/slides/slide8.xml" Id="R9c22311ece4740f8" /><Relationship Type="http://schemas.openxmlformats.org/officeDocument/2006/relationships/slide" Target="/ppt/slides/slide9.xml" Id="Rc97759927fa340cd" /><Relationship Type="http://schemas.openxmlformats.org/officeDocument/2006/relationships/slide" Target="/ppt/slides/slide10.xml" Id="R48c4b7b460ef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da9e7d7f8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4451b559f149d1" /><Relationship Type="http://schemas.openxmlformats.org/officeDocument/2006/relationships/notesMaster" Target="/ppt/notesMasters/notesMaster1.xml" Id="R38aa49c108b147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53d41ab074509" /><Relationship Type="http://schemas.openxmlformats.org/officeDocument/2006/relationships/notesMaster" Target="/ppt/notesMasters/notesMaster1.xml" Id="R4a989d82824c47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afe7e9ac9c4bc3" /><Relationship Type="http://schemas.openxmlformats.org/officeDocument/2006/relationships/notesMaster" Target="/ppt/notesMasters/notesMaster1.xml" Id="R59ca97d693cd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e2907618b740f5" /><Relationship Type="http://schemas.openxmlformats.org/officeDocument/2006/relationships/notesMaster" Target="/ppt/notesMasters/notesMaster1.xml" Id="R0435a4615a194a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ab068a73841ce" /><Relationship Type="http://schemas.openxmlformats.org/officeDocument/2006/relationships/notesMaster" Target="/ppt/notesMasters/notesMaster1.xml" Id="R82458027898749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fc820c20045c5" /><Relationship Type="http://schemas.openxmlformats.org/officeDocument/2006/relationships/notesMaster" Target="/ppt/notesMasters/notesMaster1.xml" Id="Rde3c985021a740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a9d3ec7644023" /><Relationship Type="http://schemas.openxmlformats.org/officeDocument/2006/relationships/notesMaster" Target="/ppt/notesMasters/notesMaster1.xml" Id="R7b00a7366f1847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7c60be37e142f7" /><Relationship Type="http://schemas.openxmlformats.org/officeDocument/2006/relationships/notesMaster" Target="/ppt/notesMasters/notesMaster1.xml" Id="Rc21e72ceb15c48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074785a5b74616" /><Relationship Type="http://schemas.openxmlformats.org/officeDocument/2006/relationships/notesMaster" Target="/ppt/notesMasters/notesMaster1.xml" Id="Ra4194db17f074f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9908b441c94e88" /><Relationship Type="http://schemas.openxmlformats.org/officeDocument/2006/relationships/notesMaster" Target="/ppt/notesMasters/notesMaster1.xml" Id="Rb0a9bef3795c45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ficticio aprobado por el usuario. Sin tutorial ni pruebas de ejecución. Ficha de entidades de Active Directory, actividad 2.2. Referencia: https://learn.microsoft.com/en-us/windows-server/identity/ad-ds/manage/understand-security-groups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3c4aa5d994b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c58ed64834a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1808db6e24e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a5875a68c49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56571ca5248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f94587697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E4D6F7-FC7F-40F2-8220-75A4A1F05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981F5F-1ECF-4ADE-BBFE-5BF785CE4B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117F76-DCDD-4E47-88F7-BDCAB46C0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2F3973-6B63-4185-8498-D5D8EE16D5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F4B96C-1414-42DE-8918-403824A9A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7DFFC5-6049-40F7-B54D-42B66205B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DFE681-9F68-497C-B332-B18B0887E9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A464F0-A4D3-43F0-A1BB-197A47D6C8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3AB64-DE17-4C3E-8388-02049E9AF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19479D-C5D9-44E6-B75E-1BE390E10C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678227330e467f" /><Relationship Type="http://schemas.openxmlformats.org/officeDocument/2006/relationships/slideLayout" Target="/ppt/slideLayouts/slideLayout1.xml" Id="R1a2ad0b3ce5549d8" /><Relationship Type="http://schemas.openxmlformats.org/officeDocument/2006/relationships/slideLayout" Target="/ppt/slideLayouts/slideLayout2.xml" Id="R5d472c1a0ee543ac" /><Relationship Type="http://schemas.openxmlformats.org/officeDocument/2006/relationships/slideLayout" Target="/ppt/slideLayouts/slideLayout3.xml" Id="R91b89ccb2ce348b0" /><Relationship Type="http://schemas.openxmlformats.org/officeDocument/2006/relationships/slideLayout" Target="/ppt/slideLayouts/slideLayout4.xml" Id="Re5ffac58307d42af" /><Relationship Type="http://schemas.openxmlformats.org/officeDocument/2006/relationships/slideLayout" Target="/ppt/slideLayouts/slideLayout5.xml" Id="R3fa96b39f61049bd" /><Relationship Type="http://schemas.openxmlformats.org/officeDocument/2006/relationships/slideLayout" Target="/ppt/slideLayouts/slideLayout6.xml" Id="R8280b228d413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ad0b3ce5549d8"/>
    <p:sldLayoutId xmlns:r="http://schemas.openxmlformats.org/officeDocument/2006/relationships" id="2147483650" r:id="R5d472c1a0ee543ac"/>
    <p:sldLayoutId xmlns:r="http://schemas.openxmlformats.org/officeDocument/2006/relationships" id="2147483651" r:id="R91b89ccb2ce348b0"/>
    <p:sldLayoutId xmlns:r="http://schemas.openxmlformats.org/officeDocument/2006/relationships" id="2147483652" r:id="Re5ffac58307d42af"/>
    <p:sldLayoutId xmlns:r="http://schemas.openxmlformats.org/officeDocument/2006/relationships" id="2147483653" r:id="R3fa96b39f61049bd"/>
    <p:sldLayoutId xmlns:r="http://schemas.openxmlformats.org/officeDocument/2006/relationships" id="2147483654" r:id="R8280b228d413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c9dff60fa47a3" /><Relationship Type="http://schemas.openxmlformats.org/officeDocument/2006/relationships/notesSlide" Target="/ppt/notesSlides/notesSlide1.xml" Id="R59f65b687f52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5248a49bd4e00" /><Relationship Type="http://schemas.openxmlformats.org/officeDocument/2006/relationships/notesSlide" Target="/ppt/notesSlides/notesSlide2.xml" Id="R4554d894c0d34e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17975fb194982" /><Relationship Type="http://schemas.openxmlformats.org/officeDocument/2006/relationships/notesSlide" Target="/ppt/notesSlides/notesSlide3.xml" Id="R8c63964ddb0443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f40443bde417d" /><Relationship Type="http://schemas.openxmlformats.org/officeDocument/2006/relationships/notesSlide" Target="/ppt/notesSlides/notesSlide4.xml" Id="Rbbbdd46efd9547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ec0b43891480b" /><Relationship Type="http://schemas.openxmlformats.org/officeDocument/2006/relationships/notesSlide" Target="/ppt/notesSlides/notesSlide5.xml" Id="R135c275cb703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97c056004439b" /><Relationship Type="http://schemas.openxmlformats.org/officeDocument/2006/relationships/notesSlide" Target="/ppt/notesSlides/notesSlide6.xml" Id="R168b6f637dd4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37ffa581044a5" /><Relationship Type="http://schemas.openxmlformats.org/officeDocument/2006/relationships/notesSlide" Target="/ppt/notesSlides/notesSlide7.xml" Id="Rf26d8d098df0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9ad4294644577" /><Relationship Type="http://schemas.openxmlformats.org/officeDocument/2006/relationships/notesSlide" Target="/ppt/notesSlides/notesSlide8.xml" Id="R5db489250f8243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d3cf5a4514417" /><Relationship Type="http://schemas.openxmlformats.org/officeDocument/2006/relationships/notesSlide" Target="/ppt/notesSlides/notesSlide9.xml" Id="R99cad61700c342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f3c9a87204e8a" /><Relationship Type="http://schemas.openxmlformats.org/officeDocument/2006/relationships/notesSlide" Target="/ppt/notesSlides/notesSlide10.xml" Id="R946d39e6887c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deras Nexo">
            <a:extLst xmlns:a="http://schemas.openxmlformats.org/drawingml/2006/main">
              <a:ext uri="{FF2B5EF4-FFF2-40B4-BE49-F238E27FC236}">
                <a16:creationId xmlns:a16="http://schemas.microsoft.com/office/drawing/2014/main" id="{9DA91C84-6E85-4C82-A623-4E1F2FB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Maderas Nexo</a:t>
            </a:r>
          </a:p>
        </p:txBody>
      </p:sp>
      <p:sp>
        <p:nvSpPr>
          <p:cNvPr id="2" name="Plan organizativo y estructura de Active Dire">
            <a:extLst xmlns:a="http://schemas.openxmlformats.org/drawingml/2006/main">
              <a:ext uri="{FF2B5EF4-FFF2-40B4-BE49-F238E27FC236}">
                <a16:creationId xmlns:a16="http://schemas.microsoft.com/office/drawing/2014/main" id="{DB3CD429-5835-4C0B-99F2-17F5DCD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Plan organizativo y estructura de Active Directory</a:t>
            </a:r>
          </a:p>
        </p:txBody>
      </p:sp>
      <p:sp>
        <p:nvSpPr>
          <p:cNvPr id="3" name="Venta y distribución de madera y tableros">
            <a:extLst xmlns:a="http://schemas.openxmlformats.org/drawingml/2006/main">
              <a:ext uri="{FF2B5EF4-FFF2-40B4-BE49-F238E27FC236}">
                <a16:creationId xmlns:a16="http://schemas.microsoft.com/office/drawing/2014/main" id="{69ECB1F7-9CD1-4200-8AFE-96ECAC4B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Venta y distribución de madera y tableros</a:t>
            </a:r>
          </a:p>
        </p:txBody>
      </p:sp>
      <p:sp>
        <p:nvSpPr>
          <p:cNvPr id="4" name="30 empleados · 6 departamentos · una sede">
            <a:extLst xmlns:a="http://schemas.openxmlformats.org/drawingml/2006/main">
              <a:ext uri="{FF2B5EF4-FFF2-40B4-BE49-F238E27FC236}">
                <a16:creationId xmlns:a16="http://schemas.microsoft.com/office/drawing/2014/main" id="{A035CCBD-B9C2-4653-B4D8-41052412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30 empleados · 6 departamentos · una sede</a:t>
            </a:r>
          </a:p>
        </p:txBody>
      </p:sp>
      <p:sp>
        <p:nvSpPr>
          <p:cNvPr id="5" name="21 puestos de trabajo | Dominio asix.test">
            <a:extLst xmlns:a="http://schemas.openxmlformats.org/drawingml/2006/main">
              <a:ext uri="{FF2B5EF4-FFF2-40B4-BE49-F238E27FC236}">
                <a16:creationId xmlns:a16="http://schemas.microsoft.com/office/drawing/2014/main" id="{8FBE2C4E-E57D-456C-97F0-6B23D5D0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F3F0"/>
                </a:solidFill>
                <a:latin typeface="Arial"/>
                <a:ea typeface="Arial"/>
                <a:cs typeface="Arial"/>
              </a:rPr>
              <a:t>21 puestos de trabajo | Dominio asix.test</a:t>
            </a:r>
          </a:p>
        </p:txBody>
      </p:sp>
      <p:sp>
        <p:nvSpPr>
          <p:cNvPr id="6" name="Unidad 2 · Entidades en Active Directory">
            <a:extLst xmlns:a="http://schemas.openxmlformats.org/drawingml/2006/main">
              <a:ext uri="{FF2B5EF4-FFF2-40B4-BE49-F238E27FC236}">
                <a16:creationId xmlns:a16="http://schemas.microsoft.com/office/drawing/2014/main" id="{C908B24B-CF4C-4B4C-98E9-8A76C25E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Unidad 2 · Entidades en Active Directory</a:t>
            </a:r>
          </a:p>
        </p:txBody>
      </p:sp>
      <p:sp>
        <p:nvSpPr>
          <p:cNvPr id="7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CE6256A0-A526-45E6-8AA5-83374154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01</a:t>
            </a:r>
          </a:p>
        </p:txBody>
      </p:sp>
    </p:spTree>
    <p:extLst>
      <p:ext uri="{BB962C8B-B14F-4D97-AF65-F5344CB8AC3E}">
        <p14:creationId xmlns:p14="http://schemas.microsoft.com/office/powerpoint/2010/main" val="299546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CA89C-6AC0-44EC-8E7F-616A9A009C4C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524125"/>
            <a:ext cx="457200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543F6-D112-4AF4-8884-C03D41469E6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524125"/>
            <a:ext cx="228600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6376A-94E9-4B48-95AD-3D9CF5AE56A4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524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F3FD8-BC62-49DE-A0E6-3165FED951F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810000" y="2524125"/>
            <a:ext cx="228600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14DF-FFE9-493C-8808-329F649096A9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524000" y="2524125"/>
            <a:ext cx="457200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sp>
        <p:nvSpPr>
          <p:cNvPr id="16" name="Organigrama de la empresa">
            <a:extLst xmlns:a="http://schemas.openxmlformats.org/drawingml/2006/main">
              <a:ext uri="{FF2B5EF4-FFF2-40B4-BE49-F238E27FC236}">
                <a16:creationId xmlns:a16="http://schemas.microsoft.com/office/drawing/2014/main" id="{E16CC63F-1020-4F58-BECF-1ABB42FC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Organigrama de la empresa</a:t>
            </a:r>
          </a:p>
        </p:txBody>
      </p:sp>
      <p:sp>
        <p:nvSpPr>
          <p:cNvPr id="2" name="Dirección coordina cinco departamentos en una">
            <a:extLst xmlns:a="http://schemas.openxmlformats.org/drawingml/2006/main">
              <a:ext uri="{FF2B5EF4-FFF2-40B4-BE49-F238E27FC236}">
                <a16:creationId xmlns:a16="http://schemas.microsoft.com/office/drawing/2014/main" id="{BCCA6568-9B16-45E5-BDEE-54FFD967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Dirección coordina cinco departamentos en una sede con oficinas y almacén</a:t>
            </a:r>
          </a:p>
        </p:txBody>
      </p:sp>
      <p:sp>
        <p:nvSpPr>
          <p:cNvPr id="3" name="Dirección&#10;3 empleados · 3 puestos">
            <a:extLst xmlns:a="http://schemas.openxmlformats.org/drawingml/2006/main">
              <a:ext uri="{FF2B5EF4-FFF2-40B4-BE49-F238E27FC236}">
                <a16:creationId xmlns:a16="http://schemas.microsoft.com/office/drawing/2014/main" id="{FF47C818-3FB5-4D16-9B7C-6FA24E6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3619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Dirección</a:t>
            </a:r>
          </a:p>
          <a:p xmlns:a="http://schemas.openxmlformats.org/drawingml/2006/main">
            <a: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3 empleados · 3 puestos</a:t>
            </a:r>
          </a:p>
        </p:txBody>
      </p:sp>
      <p:sp>
        <p:nvSpPr>
          <p:cNvPr id="4" name="Administración&#10;4 empleados&#10;4 puestos">
            <a:extLst xmlns:a="http://schemas.openxmlformats.org/drawingml/2006/main">
              <a:ext uri="{FF2B5EF4-FFF2-40B4-BE49-F238E27FC236}">
                <a16:creationId xmlns:a16="http://schemas.microsoft.com/office/drawing/2014/main" id="{E9C7D9DF-A710-4CA1-94CF-ADF4566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1336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Administración</a:t>
            </a:r>
          </a:p>
          <a:p xmlns:a="http://schemas.openxmlformats.org/drawingml/2006/main">
            <a: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4 empleados</a:t>
            </a:r>
          </a:p>
          <a:p xmlns:a="http://schemas.openxmlformats.org/drawingml/2006/main">
            <a:pPr algn="ctr">
              <a:defRPr sz="180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4 puestos</a:t>
            </a:r>
          </a:p>
        </p:txBody>
      </p:sp>
      <p:sp>
        <p:nvSpPr>
          <p:cNvPr id="5" name="Comercial&#10;6 empleados&#10;6 puestos">
            <a:extLst xmlns:a="http://schemas.openxmlformats.org/drawingml/2006/main">
              <a:ext uri="{FF2B5EF4-FFF2-40B4-BE49-F238E27FC236}">
                <a16:creationId xmlns:a16="http://schemas.microsoft.com/office/drawing/2014/main" id="{C14B4DDF-9908-478A-B919-6016F18D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4750"/>
            <a:ext cx="21336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BC899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Comercial</a:t>
            </a:r>
          </a:p>
          <a:p xmlns:a="http://schemas.openxmlformats.org/drawingml/2006/main">
            <a: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6 empleados</a:t>
            </a:r>
          </a:p>
          <a:p xmlns:a="http://schemas.openxmlformats.org/drawingml/2006/main">
            <a:pPr algn="ctr">
              <a:defRPr sz="1800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6 puestos</a:t>
            </a:r>
          </a:p>
        </p:txBody>
      </p:sp>
      <p:sp>
        <p:nvSpPr>
          <p:cNvPr id="6" name="Compras&#10;3 empleados&#10;3 puestos">
            <a:extLst xmlns:a="http://schemas.openxmlformats.org/drawingml/2006/main">
              <a:ext uri="{FF2B5EF4-FFF2-40B4-BE49-F238E27FC236}">
                <a16:creationId xmlns:a16="http://schemas.microsoft.com/office/drawing/2014/main" id="{26AB585F-869A-4421-BD54-F7EFEFC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21336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0ACEE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ACEE"/>
                </a:solidFill>
                <a:latin typeface="Arial"/>
                <a:ea typeface="Arial"/>
                <a:cs typeface="Arial"/>
              </a:rPr>
              <a:t>Compras</a:t>
            </a:r>
          </a:p>
          <a:p xmlns:a="http://schemas.openxmlformats.org/drawingml/2006/main">
            <a: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ACEE"/>
                </a:solidFill>
                <a:latin typeface="Arial"/>
                <a:ea typeface="Arial"/>
                <a:cs typeface="Arial"/>
              </a:rPr>
              <a:t>3 empleados</a:t>
            </a:r>
          </a:p>
          <a:p xmlns:a="http://schemas.openxmlformats.org/drawingml/2006/main">
            <a:pPr algn="ctr">
              <a:defRPr sz="1800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0ACEE"/>
                </a:solidFill>
                <a:latin typeface="Arial"/>
                <a:ea typeface="Arial"/>
                <a:cs typeface="Arial"/>
              </a:rPr>
              <a:t>3 puestos</a:t>
            </a:r>
          </a:p>
        </p:txBody>
      </p:sp>
      <p:sp>
        <p:nvSpPr>
          <p:cNvPr id="7" name="Almacén&#10;9 empleados&#10;3 puestos">
            <a:extLst xmlns:a="http://schemas.openxmlformats.org/drawingml/2006/main">
              <a:ext uri="{FF2B5EF4-FFF2-40B4-BE49-F238E27FC236}">
                <a16:creationId xmlns:a16="http://schemas.microsoft.com/office/drawing/2014/main" id="{809315D4-F8B0-4131-9723-23E3C1D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21336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B7A3D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3DD"/>
                </a:solidFill>
                <a:latin typeface="Arial"/>
                <a:ea typeface="Arial"/>
                <a:cs typeface="Arial"/>
              </a:rPr>
              <a:t>Almacén</a:t>
            </a:r>
          </a:p>
          <a:p xmlns:a="http://schemas.openxmlformats.org/drawingml/2006/main">
            <a: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3DD"/>
                </a:solidFill>
                <a:latin typeface="Arial"/>
                <a:ea typeface="Arial"/>
                <a:cs typeface="Arial"/>
              </a:rPr>
              <a:t>9 empleados</a:t>
            </a:r>
          </a:p>
          <a:p xmlns:a="http://schemas.openxmlformats.org/drawingml/2006/main">
            <a:pPr algn="ctr">
              <a:defRPr sz="1800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3DD"/>
                </a:solidFill>
                <a:latin typeface="Arial"/>
                <a:ea typeface="Arial"/>
                <a:cs typeface="Arial"/>
              </a:rPr>
              <a:t>3 puestos</a:t>
            </a:r>
          </a:p>
        </p:txBody>
      </p:sp>
      <p:sp>
        <p:nvSpPr>
          <p:cNvPr id="8" name="Logística&#10;5 empleados&#10;2 puestos">
            <a:extLst xmlns:a="http://schemas.openxmlformats.org/drawingml/2006/main">
              <a:ext uri="{FF2B5EF4-FFF2-40B4-BE49-F238E27FC236}">
                <a16:creationId xmlns:a16="http://schemas.microsoft.com/office/drawing/2014/main" id="{22661F6C-558C-45C2-924D-C337F109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21336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EB9A80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B9A80"/>
                </a:solidFill>
                <a:latin typeface="Arial"/>
                <a:ea typeface="Arial"/>
                <a:cs typeface="Arial"/>
              </a:rPr>
              <a:t>Logística</a:t>
            </a:r>
          </a:p>
          <a:p xmlns:a="http://schemas.openxmlformats.org/drawingml/2006/main">
            <a: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B9A80"/>
                </a:solidFill>
                <a:latin typeface="Arial"/>
                <a:ea typeface="Arial"/>
                <a:cs typeface="Arial"/>
              </a:rPr>
              <a:t>5 empleados</a:t>
            </a:r>
          </a:p>
          <a:p xmlns:a="http://schemas.openxmlformats.org/drawingml/2006/main">
            <a:pPr algn="ctr">
              <a:defRPr sz="1800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B9A80"/>
                </a:solidFill>
                <a:latin typeface="Arial"/>
                <a:ea typeface="Arial"/>
                <a:cs typeface="Arial"/>
              </a:rPr>
              <a:t>2 puestos</a:t>
            </a:r>
          </a:p>
        </p:txBody>
      </p:sp>
      <p:sp>
        <p:nvSpPr>
          <p:cNvPr id="9" name="Almacén y Logística comparten puestos por tur">
            <a:extLst xmlns:a="http://schemas.openxmlformats.org/drawingml/2006/main">
              <a:ext uri="{FF2B5EF4-FFF2-40B4-BE49-F238E27FC236}">
                <a16:creationId xmlns:a16="http://schemas.microsoft.com/office/drawing/2014/main" id="{11F900CC-F90B-4A0E-A096-48A134B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Almacén y Logística comparten puestos por turnos; cada empleado conserva su cuenta.</a:t>
            </a:r>
          </a:p>
        </p:txBody>
      </p:sp>
      <p:sp>
        <p:nvSpPr>
          <p:cNvPr id="10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0B676E21-24BE-47F6-9594-65BDB219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02</a:t>
            </a:r>
          </a:p>
        </p:txBody>
      </p:sp>
    </p:spTree>
    <p:extLst>
      <p:ext uri="{BB962C8B-B14F-4D97-AF65-F5344CB8AC3E}">
        <p14:creationId xmlns:p14="http://schemas.microsoft.com/office/powerpoint/2010/main" val="146833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ntilla y puestos">
            <a:extLst xmlns:a="http://schemas.openxmlformats.org/drawingml/2006/main">
              <a:ext uri="{FF2B5EF4-FFF2-40B4-BE49-F238E27FC236}">
                <a16:creationId xmlns:a16="http://schemas.microsoft.com/office/drawing/2014/main" id="{66823999-EB9C-4AE9-AFB0-3EA8893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Plantilla y puestos</a:t>
            </a:r>
          </a:p>
        </p:txBody>
      </p:sp>
      <p:sp>
        <p:nvSpPr>
          <p:cNvPr id="2" name="El reparto responde a las tareas de cada depa">
            <a:extLst xmlns:a="http://schemas.openxmlformats.org/drawingml/2006/main">
              <a:ext uri="{FF2B5EF4-FFF2-40B4-BE49-F238E27FC236}">
                <a16:creationId xmlns:a16="http://schemas.microsoft.com/office/drawing/2014/main" id="{85D0124C-297D-48B9-9A7B-BBAB51E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El reparto responde a las tareas de cada departamento</a:t>
            </a:r>
          </a:p>
        </p:txBody>
      </p:sp>
      <p:sp>
        <p:nvSpPr>
          <p:cNvPr id="3" name="Administración y contabilidad · Comercial y a">
            <a:extLst xmlns:a="http://schemas.openxmlformats.org/drawingml/2006/main">
              <a:ext uri="{FF2B5EF4-FFF2-40B4-BE49-F238E27FC236}">
                <a16:creationId xmlns:a16="http://schemas.microsoft.com/office/drawing/2014/main" id="{8867F497-3AA3-46C6-9A3D-D7E204DD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Administración y contabilidad · Comercial y atención al cliente · Compras y aprovisionamiento</a:t>
            </a:r>
          </a:p>
        </p:txBody>
      </p:sp>
      <p:sp>
        <p:nvSpPr>
          <p:cNvPr id="4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4F31261E-7E39-4416-826E-A0F2784F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77C93-49E4-46C5-BF55-172A36DD52FE}"/>
              </a:ext>
            </a:extLst>
          </p:cNvPr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619250"/>
                <a:gridCol w="1619250"/>
                <a:gridCol w="3695700"/>
              </a:tblGrid>
              <a:tr h="5000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Departamento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Empleados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Puestos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Dirección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Administración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Compras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Almacén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Compartido por turnos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Compartido por turnos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30 cuentas individuales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83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43CD31-C3AF-4E43-9E6A-314D8A09E85F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106150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B9A80"/>
            </a:solidFill>
            <a:prstDash val="solid"/>
            <a:tailEnd type="arrow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DD7531-DA0A-4494-ABB1-B14C2AB99027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0629900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B9A80"/>
            </a:solidFill>
            <a:prstDash val="solid"/>
            <a:tailEnd type="arrow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93C353-7C99-45C2-90E0-7886BBE98A9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276475"/>
            <a:ext cx="501015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E5AA9D-551C-4614-A6A0-16CF56BB11A1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134475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A3DD"/>
            </a:solidFill>
            <a:prstDash val="solid"/>
            <a:tailEnd type="arrow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711C56-9665-4512-886D-711CF9180083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658225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A3DD"/>
            </a:solidFill>
            <a:prstDash val="solid"/>
            <a:tailEnd type="arrow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4FAD09-8689-4D50-A6A0-93EDECC2702D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276475"/>
            <a:ext cx="303847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020B23-35A8-4194-B11B-9E7B754DB6B7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162800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0ACEE"/>
            </a:solidFill>
            <a:prstDash val="solid"/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B173C1-B45B-4C6B-A047-C84F161F7A2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686550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0ACEE"/>
            </a:solidFill>
            <a:prstDash val="solid"/>
            <a:tail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0D0EDC-2546-4139-86E8-C627DF31ACA2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276475"/>
            <a:ext cx="106680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8702FD-599F-4AF6-96D5-28BFA2D5019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191125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C899"/>
            </a:solidFill>
            <a:prstDash val="solid"/>
            <a:tailEnd type="arrow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BA354-935A-4EAB-B0C8-CD5A67074C5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714875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C899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42DA5-A588-41DB-BA31-19E9399918BA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5191125" y="2276475"/>
            <a:ext cx="90487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C283D-21BC-443A-B35F-8FB30459B22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19450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7CDD2"/>
            </a:solidFill>
            <a:prstDash val="solid"/>
            <a:tail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D6BE0-342F-4860-AE5E-F42E339744E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743200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7CDD2"/>
            </a:solidFill>
            <a:prstDash val="solid"/>
            <a:tail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5F3BF-CB7E-4276-8EAA-3521FCD8B9A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219450" y="2276475"/>
            <a:ext cx="287655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C57B2-358F-43CC-9DB4-12E42B40861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247775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5B343"/>
            </a:solidFill>
            <a:prstDash val="solid"/>
            <a:tail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6DC9C-A02D-45CA-8215-13C34CE8297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71525" y="3686175"/>
            <a:ext cx="4762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5B343"/>
            </a:solidFill>
            <a:prstDash val="solid"/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DBD14-ABB8-4C79-A9BB-5C1FFF23F0DD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247775" y="2276475"/>
            <a:ext cx="484822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552"/>
            </a:solidFill>
            <a:prstDash val="solid"/>
            <a:tailEnd type="arrow" w="sm" len="sm"/>
          </a:ln>
        </p:spPr>
      </p:cxnSp>
      <p:sp>
        <p:nvSpPr>
          <p:cNvPr id="43" name="Árbol de unidades organizativas">
            <a:extLst xmlns:a="http://schemas.openxmlformats.org/drawingml/2006/main">
              <a:ext uri="{FF2B5EF4-FFF2-40B4-BE49-F238E27FC236}">
                <a16:creationId xmlns:a16="http://schemas.microsoft.com/office/drawing/2014/main" id="{49B8E962-8AFA-47B3-B712-64070C37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Árbol de unidades organizativas</a:t>
            </a:r>
          </a:p>
        </p:txBody>
      </p:sp>
      <p:sp>
        <p:nvSpPr>
          <p:cNvPr id="2" name="Usuarios y Equipos son OU hermanas dentro de ">
            <a:extLst xmlns:a="http://schemas.openxmlformats.org/drawingml/2006/main">
              <a:ext uri="{FF2B5EF4-FFF2-40B4-BE49-F238E27FC236}">
                <a16:creationId xmlns:a16="http://schemas.microsoft.com/office/drawing/2014/main" id="{4D6320A7-6C0E-4DCE-B0BC-BA7399A4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Usuarios y Equipos son OU hermanas dentro de cada departamento</a:t>
            </a:r>
          </a:p>
        </p:txBody>
      </p:sp>
      <p:sp>
        <p:nvSpPr>
          <p:cNvPr id="3" name="OU MaderasNexo">
            <a:extLst xmlns:a="http://schemas.openxmlformats.org/drawingml/2006/main">
              <a:ext uri="{FF2B5EF4-FFF2-40B4-BE49-F238E27FC236}">
                <a16:creationId xmlns:a16="http://schemas.microsoft.com/office/drawing/2014/main" id="{E2B8C0B6-0CF2-4884-8DCE-ACD1023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4191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OU MaderasNexo</a:t>
            </a:r>
          </a:p>
        </p:txBody>
      </p:sp>
      <p:sp>
        <p:nvSpPr>
          <p:cNvPr id="4" name="Direccion">
            <a:extLst xmlns:a="http://schemas.openxmlformats.org/drawingml/2006/main">
              <a:ext uri="{FF2B5EF4-FFF2-40B4-BE49-F238E27FC236}">
                <a16:creationId xmlns:a16="http://schemas.microsoft.com/office/drawing/2014/main" id="{FA706626-E51C-45DD-87C8-80B75D6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95625"/>
            <a:ext cx="184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Direccion</a:t>
            </a:r>
          </a:p>
        </p:txBody>
      </p:sp>
      <p:sp>
        <p:nvSpPr>
          <p:cNvPr id="5" name="Usuarios">
            <a:extLst xmlns:a="http://schemas.openxmlformats.org/drawingml/2006/main">
              <a:ext uri="{FF2B5EF4-FFF2-40B4-BE49-F238E27FC236}">
                <a16:creationId xmlns:a16="http://schemas.microsoft.com/office/drawing/2014/main" id="{9DCE8F65-4547-4A27-8D53-C804CA0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6" name="Equipos">
            <a:extLst xmlns:a="http://schemas.openxmlformats.org/drawingml/2006/main">
              <a:ext uri="{FF2B5EF4-FFF2-40B4-BE49-F238E27FC236}">
                <a16:creationId xmlns:a16="http://schemas.microsoft.com/office/drawing/2014/main" id="{AEE8F009-3655-4ABE-B897-FD49695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7" name="Administracion">
            <a:extLst xmlns:a="http://schemas.openxmlformats.org/drawingml/2006/main">
              <a:ext uri="{FF2B5EF4-FFF2-40B4-BE49-F238E27FC236}">
                <a16:creationId xmlns:a16="http://schemas.microsoft.com/office/drawing/2014/main" id="{D3349762-8C03-4B37-B893-F42CF37F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95625"/>
            <a:ext cx="184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Administracion</a:t>
            </a:r>
          </a:p>
        </p:txBody>
      </p:sp>
      <p:sp>
        <p:nvSpPr>
          <p:cNvPr id="8" name="Usuarios">
            <a:extLst xmlns:a="http://schemas.openxmlformats.org/drawingml/2006/main">
              <a:ext uri="{FF2B5EF4-FFF2-40B4-BE49-F238E27FC236}">
                <a16:creationId xmlns:a16="http://schemas.microsoft.com/office/drawing/2014/main" id="{C09B63CD-44B2-43DE-8B31-22A7BC5C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9" name="Equipos">
            <a:extLst xmlns:a="http://schemas.openxmlformats.org/drawingml/2006/main">
              <a:ext uri="{FF2B5EF4-FFF2-40B4-BE49-F238E27FC236}">
                <a16:creationId xmlns:a16="http://schemas.microsoft.com/office/drawing/2014/main" id="{B70BF783-6A91-46C1-8C80-03F4E02A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10" name="Comercial">
            <a:extLst xmlns:a="http://schemas.openxmlformats.org/drawingml/2006/main">
              <a:ext uri="{FF2B5EF4-FFF2-40B4-BE49-F238E27FC236}">
                <a16:creationId xmlns:a16="http://schemas.microsoft.com/office/drawing/2014/main" id="{35635C60-99CA-4F1A-BA02-0AADBABA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95625"/>
            <a:ext cx="184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BC899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11" name="Usuarios">
            <a:extLst xmlns:a="http://schemas.openxmlformats.org/drawingml/2006/main">
              <a:ext uri="{FF2B5EF4-FFF2-40B4-BE49-F238E27FC236}">
                <a16:creationId xmlns:a16="http://schemas.microsoft.com/office/drawing/2014/main" id="{3774C710-9BF9-4C36-B17E-D3EEC0D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BC899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12" name="Equipos">
            <a:extLst xmlns:a="http://schemas.openxmlformats.org/drawingml/2006/main">
              <a:ext uri="{FF2B5EF4-FFF2-40B4-BE49-F238E27FC236}">
                <a16:creationId xmlns:a16="http://schemas.microsoft.com/office/drawing/2014/main" id="{5D80AE26-7757-45E7-A18A-18697D47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BC899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13" name="Compras">
            <a:extLst xmlns:a="http://schemas.openxmlformats.org/drawingml/2006/main">
              <a:ext uri="{FF2B5EF4-FFF2-40B4-BE49-F238E27FC236}">
                <a16:creationId xmlns:a16="http://schemas.microsoft.com/office/drawing/2014/main" id="{41AAF2FD-ED4C-4A9F-84F3-DDB4C2B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184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0ACEE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0ACEE"/>
                </a:solidFill>
                <a:latin typeface="Arial"/>
                <a:ea typeface="Arial"/>
                <a:cs typeface="Arial"/>
              </a:rPr>
              <a:t>Compras</a:t>
            </a:r>
          </a:p>
        </p:txBody>
      </p:sp>
      <p:sp>
        <p:nvSpPr>
          <p:cNvPr id="14" name="Usuarios">
            <a:extLst xmlns:a="http://schemas.openxmlformats.org/drawingml/2006/main">
              <a:ext uri="{FF2B5EF4-FFF2-40B4-BE49-F238E27FC236}">
                <a16:creationId xmlns:a16="http://schemas.microsoft.com/office/drawing/2014/main" id="{9793DAD9-2207-472E-AEC1-7B53FF90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0ACEE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0ACEE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15" name="Equipos">
            <a:extLst xmlns:a="http://schemas.openxmlformats.org/drawingml/2006/main">
              <a:ext uri="{FF2B5EF4-FFF2-40B4-BE49-F238E27FC236}">
                <a16:creationId xmlns:a16="http://schemas.microsoft.com/office/drawing/2014/main" id="{32A3BF3B-6881-4E94-BF72-BEC3A9A7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80ACEE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80AC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0ACEE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16" name="Almacen">
            <a:extLst xmlns:a="http://schemas.openxmlformats.org/drawingml/2006/main">
              <a:ext uri="{FF2B5EF4-FFF2-40B4-BE49-F238E27FC236}">
                <a16:creationId xmlns:a16="http://schemas.microsoft.com/office/drawing/2014/main" id="{A43E307C-9368-4DF0-B30C-59F7D440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95625"/>
            <a:ext cx="184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B7A3D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A3DD"/>
                </a:solidFill>
                <a:latin typeface="Arial"/>
                <a:ea typeface="Arial"/>
                <a:cs typeface="Arial"/>
              </a:rPr>
              <a:t>Almacen</a:t>
            </a:r>
          </a:p>
        </p:txBody>
      </p:sp>
      <p:sp>
        <p:nvSpPr>
          <p:cNvPr id="17" name="Usuarios">
            <a:extLst xmlns:a="http://schemas.openxmlformats.org/drawingml/2006/main">
              <a:ext uri="{FF2B5EF4-FFF2-40B4-BE49-F238E27FC236}">
                <a16:creationId xmlns:a16="http://schemas.microsoft.com/office/drawing/2014/main" id="{01C56EB4-45C6-470D-833E-539D6243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B7A3D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A3DD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18" name="Equipos">
            <a:extLst xmlns:a="http://schemas.openxmlformats.org/drawingml/2006/main">
              <a:ext uri="{FF2B5EF4-FFF2-40B4-BE49-F238E27FC236}">
                <a16:creationId xmlns:a16="http://schemas.microsoft.com/office/drawing/2014/main" id="{31E5182A-EC52-4AE8-8E57-A29F686D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B7A3DD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B7A3D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A3DD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19" name="Logistica">
            <a:extLst xmlns:a="http://schemas.openxmlformats.org/drawingml/2006/main">
              <a:ext uri="{FF2B5EF4-FFF2-40B4-BE49-F238E27FC236}">
                <a16:creationId xmlns:a16="http://schemas.microsoft.com/office/drawing/2014/main" id="{66693DEC-7EC9-40D3-A39F-926321B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95625"/>
            <a:ext cx="1847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EB9A80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B9A80"/>
                </a:solidFill>
                <a:latin typeface="Arial"/>
                <a:ea typeface="Arial"/>
                <a:cs typeface="Arial"/>
              </a:rPr>
              <a:t>Logistica</a:t>
            </a:r>
          </a:p>
        </p:txBody>
      </p:sp>
      <p:sp>
        <p:nvSpPr>
          <p:cNvPr id="20" name="Usuarios">
            <a:extLst xmlns:a="http://schemas.openxmlformats.org/drawingml/2006/main">
              <a:ext uri="{FF2B5EF4-FFF2-40B4-BE49-F238E27FC236}">
                <a16:creationId xmlns:a16="http://schemas.microsoft.com/office/drawing/2014/main" id="{2B5A0E47-81C5-43C3-991C-7910B02D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EB9A80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B9A80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21" name="Equipos">
            <a:extLst xmlns:a="http://schemas.openxmlformats.org/drawingml/2006/main">
              <a:ext uri="{FF2B5EF4-FFF2-40B4-BE49-F238E27FC236}">
                <a16:creationId xmlns:a16="http://schemas.microsoft.com/office/drawing/2014/main" id="{6287F1A6-A63A-4FC9-B6CD-C876D44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524375"/>
            <a:ext cx="8953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EB9A80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EB9A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B9A80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22" name="Grupos → Globales / DominioLocal. Total: 22 O">
            <a:extLst xmlns:a="http://schemas.openxmlformats.org/drawingml/2006/main">
              <a:ext uri="{FF2B5EF4-FFF2-40B4-BE49-F238E27FC236}">
                <a16:creationId xmlns:a16="http://schemas.microsoft.com/office/drawing/2014/main" id="{5EA7A04D-696F-44AA-814F-6F5E3956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B343"/>
                </a:solidFill>
                <a:latin typeface="Arial"/>
                <a:ea typeface="Arial"/>
                <a:cs typeface="Arial"/>
              </a:rPr>
              <a:t>Grupos → Globales / DominioLocal. Total: 22 OU.</a:t>
            </a:r>
          </a:p>
        </p:txBody>
      </p:sp>
      <p:sp>
        <p:nvSpPr>
          <p:cNvPr id="23" name="Dominio asix.test. SRV-DC01 permanece en Doma">
            <a:extLst xmlns:a="http://schemas.openxmlformats.org/drawingml/2006/main">
              <a:ext uri="{FF2B5EF4-FFF2-40B4-BE49-F238E27FC236}">
                <a16:creationId xmlns:a16="http://schemas.microsoft.com/office/drawing/2014/main" id="{397A442B-9C0C-40B0-9756-1C244736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Dominio asix.test. SRV-DC01 permanece en Domain Controllers, fuera de MaderasNexo.</a:t>
            </a:r>
          </a:p>
        </p:txBody>
      </p:sp>
      <p:sp>
        <p:nvSpPr>
          <p:cNvPr id="24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1819D669-05E3-488D-9A38-9C6CB642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04</a:t>
            </a:r>
          </a:p>
        </p:txBody>
      </p:sp>
    </p:spTree>
    <p:extLst>
      <p:ext uri="{BB962C8B-B14F-4D97-AF65-F5344CB8AC3E}">
        <p14:creationId xmlns:p14="http://schemas.microsoft.com/office/powerpoint/2010/main" val="2021237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uentas individuales por departamento">
            <a:extLst xmlns:a="http://schemas.openxmlformats.org/drawingml/2006/main">
              <a:ext uri="{FF2B5EF4-FFF2-40B4-BE49-F238E27FC236}">
                <a16:creationId xmlns:a16="http://schemas.microsoft.com/office/drawing/2014/main" id="{BB5D9811-6287-459D-AB90-DF5B888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Cuentas individuales por departamento</a:t>
            </a:r>
          </a:p>
        </p:txBody>
      </p:sp>
      <p:sp>
        <p:nvSpPr>
          <p:cNvPr id="2" name="Identificadores genéricos sin nombres persona">
            <a:extLst xmlns:a="http://schemas.openxmlformats.org/drawingml/2006/main">
              <a:ext uri="{FF2B5EF4-FFF2-40B4-BE49-F238E27FC236}">
                <a16:creationId xmlns:a16="http://schemas.microsoft.com/office/drawing/2014/main" id="{144D42E1-B13F-4CFE-8660-DE3DC11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Identificadores genéricos sin nombres personales</a:t>
            </a:r>
          </a:p>
        </p:txBody>
      </p:sp>
      <p:sp>
        <p:nvSpPr>
          <p:cNvPr id="3" name="UPN: cuenta@asix.test · Inicio de sesión: ASI">
            <a:extLst xmlns:a="http://schemas.openxmlformats.org/drawingml/2006/main">
              <a:ext uri="{FF2B5EF4-FFF2-40B4-BE49-F238E27FC236}">
                <a16:creationId xmlns:a16="http://schemas.microsoft.com/office/drawing/2014/main" id="{04C75E0A-A6B6-4442-981F-13215A14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B343"/>
                </a:solidFill>
                <a:latin typeface="Arial"/>
                <a:ea typeface="Arial"/>
                <a:cs typeface="Arial"/>
              </a:rPr>
              <a:t>UPN: cuenta@asix.test · Inicio de sesión: ASIX\cuenta</a:t>
            </a:r>
          </a:p>
        </p:txBody>
      </p:sp>
      <p:sp>
        <p:nvSpPr>
          <p:cNvPr id="4" name="Ejemplo: adm01@asix.test. Las cuentas previas">
            <a:extLst xmlns:a="http://schemas.openxmlformats.org/drawingml/2006/main">
              <a:ext uri="{FF2B5EF4-FFF2-40B4-BE49-F238E27FC236}">
                <a16:creationId xmlns:a16="http://schemas.microsoft.com/office/drawing/2014/main" id="{1B481881-C0F4-4AC1-A669-B71F0D8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Ejemplo: adm01@asix.test. Las cuentas previas del laboratorio no cuentan entre los 30 empleados.</a:t>
            </a:r>
          </a:p>
        </p:txBody>
      </p:sp>
      <p:sp>
        <p:nvSpPr>
          <p:cNvPr id="5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9523BC03-A8DC-4B4F-8B11-947C6A94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09AED-9441-486C-B28E-08143D5EEA20}"/>
              </a:ext>
            </a:extLst>
          </p:cNvPr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7505700"/>
                <a:gridCol w="952500"/>
              </a:tblGrid>
              <a:tr h="55108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Departamento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Cuentas previstas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Dirección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dir01, dir02, dir03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Administración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adm01, adm02, adm03, adm04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com01, com02, com03, com04, com05, com06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Compras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cmp01, cmp02, cmp03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Almacén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alm01, alm02, alm03, alm04, alm05, alm06, alm07, alm08, alm09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log01, log02, log03, log04, log05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30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uestos y objetos de equipo">
            <a:extLst xmlns:a="http://schemas.openxmlformats.org/drawingml/2006/main">
              <a:ext uri="{FF2B5EF4-FFF2-40B4-BE49-F238E27FC236}">
                <a16:creationId xmlns:a16="http://schemas.microsoft.com/office/drawing/2014/main" id="{0E15AC32-B661-4949-B974-6DFEED99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Puestos y objetos de equipo</a:t>
            </a:r>
          </a:p>
        </p:txBody>
      </p:sp>
      <p:sp>
        <p:nvSpPr>
          <p:cNvPr id="2" name="21 puestos diseñados; solo un cliente real en">
            <a:extLst xmlns:a="http://schemas.openxmlformats.org/drawingml/2006/main">
              <a:ext uri="{FF2B5EF4-FFF2-40B4-BE49-F238E27FC236}">
                <a16:creationId xmlns:a16="http://schemas.microsoft.com/office/drawing/2014/main" id="{305C63B8-731C-4C7A-B40F-1FA8E3B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21 puestos diseñados; solo un cliente real en el laboratorio</a:t>
            </a:r>
          </a:p>
        </p:txBody>
      </p:sp>
      <p:sp>
        <p:nvSpPr>
          <p:cNvPr id="3" name="CLI-W11-01 → Administración: cliente real uni">
            <a:extLst xmlns:a="http://schemas.openxmlformats.org/drawingml/2006/main">
              <a:ext uri="{FF2B5EF4-FFF2-40B4-BE49-F238E27FC236}">
                <a16:creationId xmlns:a16="http://schemas.microsoft.com/office/drawing/2014/main" id="{B844DEBC-AE14-4D3A-BA77-26CFB7E2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CLI-W11-01 → Administración: cliente real unido al dominio.</a:t>
            </a:r>
          </a:p>
        </p:txBody>
      </p:sp>
      <p:sp>
        <p:nvSpPr>
          <p:cNvPr id="4" name="Los otros 20 son objetos precreados, sin 20 V">
            <a:extLst xmlns:a="http://schemas.openxmlformats.org/drawingml/2006/main">
              <a:ext uri="{FF2B5EF4-FFF2-40B4-BE49-F238E27FC236}">
                <a16:creationId xmlns:a16="http://schemas.microsoft.com/office/drawing/2014/main" id="{2A857BD0-4314-4C26-A521-B447D302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Los otros 20 son objetos precreados, sin 20 VM instaladas o conectadas.</a:t>
            </a:r>
          </a:p>
        </p:txBody>
      </p:sp>
      <p:sp>
        <p:nvSpPr>
          <p:cNvPr id="5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559BF401-1C9E-4944-8FCE-4E732DB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9BBE7-AE10-4AE4-81F1-B55481475B19}"/>
              </a:ext>
            </a:extLst>
          </p:cNvPr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7505700"/>
                <a:gridCol w="952500"/>
              </a:tblGrid>
              <a:tr h="55108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Departamento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Nombres de equipo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Puestos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Dirección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MN-DIR-01, MN-DIR-02, MN-DIR-03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Administración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CLI-W11-01, MN-ADM-02, MN-ADM-03, MN-ADM-04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MN-COM-01, MN-COM-02, MN-COM-03, MN-COM-04, MN-COM-05, MN-COM-06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Compras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MN-CMP-01, MN-CMP-02, MN-CMP-03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Almacén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MN-ALM-01, MN-ALM-02, MN-ALM-03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MN-LOG-01, MN-LOG-02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393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rupos globales y de dominio local">
            <a:extLst xmlns:a="http://schemas.openxmlformats.org/drawingml/2006/main">
              <a:ext uri="{FF2B5EF4-FFF2-40B4-BE49-F238E27FC236}">
                <a16:creationId xmlns:a16="http://schemas.microsoft.com/office/drawing/2014/main" id="{593CF546-2710-4758-8782-508D1C71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Grupos globales y de dominio local</a:t>
            </a:r>
          </a:p>
        </p:txBody>
      </p:sp>
      <p:sp>
        <p:nvSpPr>
          <p:cNvPr id="2" name="Grupos de seguridad: los empleados se agrupan">
            <a:extLst xmlns:a="http://schemas.openxmlformats.org/drawingml/2006/main">
              <a:ext uri="{FF2B5EF4-FFF2-40B4-BE49-F238E27FC236}">
                <a16:creationId xmlns:a16="http://schemas.microsoft.com/office/drawing/2014/main" id="{14399AAD-3753-48F6-B2B4-6A5738F3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Grupos de seguridad: los empleados se agrupan por departamento</a:t>
            </a:r>
          </a:p>
        </p:txBody>
      </p:sp>
      <p:sp>
        <p:nvSpPr>
          <p:cNvPr id="3" name="Común: DL_MN_COMUN_M incluye los seis grupos ">
            <a:extLst xmlns:a="http://schemas.openxmlformats.org/drawingml/2006/main">
              <a:ext uri="{FF2B5EF4-FFF2-40B4-BE49-F238E27FC236}">
                <a16:creationId xmlns:a16="http://schemas.microsoft.com/office/drawing/2014/main" id="{FE4A215B-9E38-45CD-BD98-C216F01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B343"/>
                </a:solidFill>
                <a:latin typeface="Arial"/>
                <a:ea typeface="Arial"/>
                <a:cs typeface="Arial"/>
              </a:rPr>
              <a:t>Común: DL_MN_COMUN_M incluye los seis grupos globales.</a:t>
            </a:r>
          </a:p>
        </p:txBody>
      </p:sp>
      <p:sp>
        <p:nvSpPr>
          <p:cNvPr id="4" name="6 GG + 12 DL = 18 grupos. M: Modificar · L: L">
            <a:extLst xmlns:a="http://schemas.openxmlformats.org/drawingml/2006/main">
              <a:ext uri="{FF2B5EF4-FFF2-40B4-BE49-F238E27FC236}">
                <a16:creationId xmlns:a16="http://schemas.microsoft.com/office/drawing/2014/main" id="{708C2006-7BD3-4DB5-9926-6311AF4E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6 GG + 12 DL = 18 grupos. M: Modificar · L: Leer. No se requieren universales.</a:t>
            </a:r>
          </a:p>
        </p:txBody>
      </p:sp>
      <p:sp>
        <p:nvSpPr>
          <p:cNvPr id="5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4EDC41BC-161A-4A74-817D-B6B82C1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86543-67A9-4687-9C9C-B41CF0C4C1F9}"/>
              </a:ext>
            </a:extLst>
          </p:cNvPr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333750"/>
                <a:gridCol w="5124450"/>
              </a:tblGrid>
              <a:tr h="53067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Departamento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Grupo global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Grupos de dominio local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Dirección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GG_MN_DIR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DL_MN_DIR_M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Administración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GG_MN_ADM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DL_MN_ADM_M / DL_MN_ADM_L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GG_MN_COM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DL_MN_COM_M / DL_MN_COM_L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Compras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GG_MN_CMP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DL_MN_CMP_M / DL_MN_CMP_L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Almacén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GG_MN_ALM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DL_MN_ALM_M / DL_MN_ALM_L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GG_MN_LOG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DL_MN_LOG_M / DL_MN_LOG_L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065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FEDB2-42E2-4D87-83A8-5E15ED9E858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96325" y="3819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343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39C56-A137-45E3-9A48-9F89C1FBEB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91200" y="3819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343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C71C7-577F-47C6-95F8-C82BD21A890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86075" y="3819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343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DB4EE-52A1-4EA7-950C-805A435B8A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96325" y="2343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CDD2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58A9F-C7CA-43C9-BA49-12E440302F9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91200" y="2343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CDD2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6373C-8227-4E2A-B5E5-C600C8D3ABB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86075" y="2343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7CDD2"/>
            </a:solidFill>
            <a:prstDash val="solid"/>
            <a:tailEnd type="arrow" w="sm" len="sm"/>
          </a:ln>
        </p:spPr>
      </p:cxnSp>
      <p:sp>
        <p:nvSpPr>
          <p:cNvPr id="24" name="Modelo AGDLP">
            <a:extLst xmlns:a="http://schemas.openxmlformats.org/drawingml/2006/main">
              <a:ext uri="{FF2B5EF4-FFF2-40B4-BE49-F238E27FC236}">
                <a16:creationId xmlns:a16="http://schemas.microsoft.com/office/drawing/2014/main" id="{AF0655C2-2012-4160-8FF6-14DB65A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Modelo AGDLP</a:t>
            </a:r>
          </a:p>
        </p:txBody>
      </p:sp>
      <p:sp>
        <p:nvSpPr>
          <p:cNvPr id="2" name="Cuenta → Grupo global → Dominio local → Permi">
            <a:extLst xmlns:a="http://schemas.openxmlformats.org/drawingml/2006/main">
              <a:ext uri="{FF2B5EF4-FFF2-40B4-BE49-F238E27FC236}">
                <a16:creationId xmlns:a16="http://schemas.microsoft.com/office/drawing/2014/main" id="{10F98C19-0FAD-4686-8BD8-051BBC3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Cuenta → Grupo global → Dominio local → Permiso sobre el recurso</a:t>
            </a:r>
          </a:p>
        </p:txBody>
      </p:sp>
      <p:sp>
        <p:nvSpPr>
          <p:cNvPr id="3" name="adm01">
            <a:extLst xmlns:a="http://schemas.openxmlformats.org/drawingml/2006/main">
              <a:ext uri="{FF2B5EF4-FFF2-40B4-BE49-F238E27FC236}">
                <a16:creationId xmlns:a16="http://schemas.microsoft.com/office/drawing/2014/main" id="{F0E11D2B-680D-4945-811A-AAD02BE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adm01</a:t>
            </a:r>
          </a:p>
        </p:txBody>
      </p:sp>
      <p:sp>
        <p:nvSpPr>
          <p:cNvPr id="4" name="GG_MN_ADM">
            <a:extLst xmlns:a="http://schemas.openxmlformats.org/drawingml/2006/main">
              <a:ext uri="{FF2B5EF4-FFF2-40B4-BE49-F238E27FC236}">
                <a16:creationId xmlns:a16="http://schemas.microsoft.com/office/drawing/2014/main" id="{D16D8F87-633F-4DCD-9781-DCB2EB3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GG_MN_ADM</a:t>
            </a:r>
          </a:p>
        </p:txBody>
      </p:sp>
      <p:sp>
        <p:nvSpPr>
          <p:cNvPr id="5" name="DL_MN_ADM_M">
            <a:extLst xmlns:a="http://schemas.openxmlformats.org/drawingml/2006/main">
              <a:ext uri="{FF2B5EF4-FFF2-40B4-BE49-F238E27FC236}">
                <a16:creationId xmlns:a16="http://schemas.microsoft.com/office/drawing/2014/main" id="{99C85914-63E5-4FE1-9B6C-A1AF5F59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DL_MN_ADM_M</a:t>
            </a:r>
          </a:p>
        </p:txBody>
      </p:sp>
      <p:sp>
        <p:nvSpPr>
          <p:cNvPr id="6" name="Administración&#10;Modificar">
            <a:extLst xmlns:a="http://schemas.openxmlformats.org/drawingml/2006/main">
              <a:ext uri="{FF2B5EF4-FFF2-40B4-BE49-F238E27FC236}">
                <a16:creationId xmlns:a16="http://schemas.microsoft.com/office/drawing/2014/main" id="{79A34544-6D44-4CB8-B3BE-784F776A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526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57CDD2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Administración</a:t>
            </a:r>
          </a:p>
          <a:p xmlns:a="http://schemas.openxmlformats.org/drawingml/2006/main">
            <a:pPr algn="ctr">
              <a:defRPr sz="1650" b="1">
                <a:solidFill>
                  <a:srgbClr val="57CD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CDD2"/>
                </a:solidFill>
                <a:latin typeface="Arial"/>
                <a:ea typeface="Arial"/>
                <a:cs typeface="Arial"/>
              </a:rPr>
              <a:t>Modificar</a:t>
            </a:r>
          </a:p>
        </p:txBody>
      </p:sp>
      <p:sp>
        <p:nvSpPr>
          <p:cNvPr id="7" name="dir01">
            <a:extLst xmlns:a="http://schemas.openxmlformats.org/drawingml/2006/main">
              <a:ext uri="{FF2B5EF4-FFF2-40B4-BE49-F238E27FC236}">
                <a16:creationId xmlns:a16="http://schemas.microsoft.com/office/drawing/2014/main" id="{DF7000D9-79F8-49CA-99AE-5B3336E6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dir01</a:t>
            </a:r>
          </a:p>
        </p:txBody>
      </p:sp>
      <p:sp>
        <p:nvSpPr>
          <p:cNvPr id="8" name="GG_MN_DIR">
            <a:extLst xmlns:a="http://schemas.openxmlformats.org/drawingml/2006/main">
              <a:ext uri="{FF2B5EF4-FFF2-40B4-BE49-F238E27FC236}">
                <a16:creationId xmlns:a16="http://schemas.microsoft.com/office/drawing/2014/main" id="{A52F3793-79EF-4564-A952-A022B06D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29000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GG_MN_DIR</a:t>
            </a:r>
          </a:p>
        </p:txBody>
      </p:sp>
      <p:sp>
        <p:nvSpPr>
          <p:cNvPr id="9" name="DL_MN_ADM_L">
            <a:extLst xmlns:a="http://schemas.openxmlformats.org/drawingml/2006/main">
              <a:ext uri="{FF2B5EF4-FFF2-40B4-BE49-F238E27FC236}">
                <a16:creationId xmlns:a16="http://schemas.microsoft.com/office/drawing/2014/main" id="{E6E279D7-65E8-45F9-920D-F9ACF9DF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DL_MN_ADM_L</a:t>
            </a:r>
          </a:p>
        </p:txBody>
      </p:sp>
      <p:sp>
        <p:nvSpPr>
          <p:cNvPr id="10" name="Administración&#10;Leer">
            <a:extLst xmlns:a="http://schemas.openxmlformats.org/drawingml/2006/main">
              <a:ext uri="{FF2B5EF4-FFF2-40B4-BE49-F238E27FC236}">
                <a16:creationId xmlns:a16="http://schemas.microsoft.com/office/drawing/2014/main" id="{24BD1B60-5D89-4762-BA17-AC32FDE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29000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A22"/>
          </a:solidFill>
          <a:ln xmlns:a="http://schemas.openxmlformats.org/drawingml/2006/main" w="14288">
            <a:solidFill>
              <a:srgbClr val="F5B343"/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Administración</a:t>
            </a:r>
          </a:p>
          <a:p xmlns:a="http://schemas.openxmlformats.org/drawingml/2006/main">
            <a:pPr algn="ctr">
              <a:defRPr sz="1650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Leer</a:t>
            </a:r>
          </a:p>
        </p:txBody>
      </p:sp>
      <p:sp>
        <p:nvSpPr>
          <p:cNvPr id="11" name="CUENTA">
            <a:extLst xmlns:a="http://schemas.openxmlformats.org/drawingml/2006/main">
              <a:ext uri="{FF2B5EF4-FFF2-40B4-BE49-F238E27FC236}">
                <a16:creationId xmlns:a16="http://schemas.microsoft.com/office/drawing/2014/main" id="{4A94ED50-BF2F-4C5A-AC8B-AC23DCD7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AB7C0"/>
                </a:solidFill>
                <a:latin typeface="Arial"/>
                <a:ea typeface="Arial"/>
                <a:cs typeface="Arial"/>
              </a:rPr>
              <a:t>CUENTA</a:t>
            </a:r>
          </a:p>
        </p:txBody>
      </p:sp>
      <p:sp>
        <p:nvSpPr>
          <p:cNvPr id="12" name="GRUPO GLOBAL">
            <a:extLst xmlns:a="http://schemas.openxmlformats.org/drawingml/2006/main">
              <a:ext uri="{FF2B5EF4-FFF2-40B4-BE49-F238E27FC236}">
                <a16:creationId xmlns:a16="http://schemas.microsoft.com/office/drawing/2014/main" id="{5E89CDFD-D6CC-45A4-BA87-B118887B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AB7C0"/>
                </a:solidFill>
                <a:latin typeface="Arial"/>
                <a:ea typeface="Arial"/>
                <a:cs typeface="Arial"/>
              </a:rPr>
              <a:t>GRUPO GLOBAL</a:t>
            </a:r>
          </a:p>
        </p:txBody>
      </p:sp>
      <p:sp>
        <p:nvSpPr>
          <p:cNvPr id="13" name="DOMINIO LOCAL">
            <a:extLst xmlns:a="http://schemas.openxmlformats.org/drawingml/2006/main">
              <a:ext uri="{FF2B5EF4-FFF2-40B4-BE49-F238E27FC236}">
                <a16:creationId xmlns:a16="http://schemas.microsoft.com/office/drawing/2014/main" id="{7605151C-9425-42D0-8E8D-572F7E4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AB7C0"/>
                </a:solidFill>
                <a:latin typeface="Arial"/>
                <a:ea typeface="Arial"/>
                <a:cs typeface="Arial"/>
              </a:rPr>
              <a:t>DOMINIO LOCAL</a:t>
            </a:r>
          </a:p>
        </p:txBody>
      </p:sp>
      <p:sp>
        <p:nvSpPr>
          <p:cNvPr id="14" name="RECURSO">
            <a:extLst xmlns:a="http://schemas.openxmlformats.org/drawingml/2006/main">
              <a:ext uri="{FF2B5EF4-FFF2-40B4-BE49-F238E27FC236}">
                <a16:creationId xmlns:a16="http://schemas.microsoft.com/office/drawing/2014/main" id="{977E8F87-FFA6-45D1-894E-BE88B57A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192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AB7C0"/>
                </a:solidFill>
                <a:latin typeface="Arial"/>
                <a:ea typeface="Arial"/>
                <a:cs typeface="Arial"/>
              </a:rPr>
              <a:t>RECURSO</a:t>
            </a:r>
          </a:p>
        </p:txBody>
      </p:sp>
      <p:sp>
        <p:nvSpPr>
          <p:cNvPr id="15" name="Todos los GG → DL_MN_COMUN_M → Común: Modific">
            <a:extLst xmlns:a="http://schemas.openxmlformats.org/drawingml/2006/main">
              <a:ext uri="{FF2B5EF4-FFF2-40B4-BE49-F238E27FC236}">
                <a16:creationId xmlns:a16="http://schemas.microsoft.com/office/drawing/2014/main" id="{4DA67D90-FD45-4D66-884E-1703AD6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BC8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C899"/>
                </a:solidFill>
                <a:latin typeface="Arial"/>
                <a:ea typeface="Arial"/>
                <a:cs typeface="Arial"/>
              </a:rPr>
              <a:t>Todos los GG → DL_MN_COMUN_M → Común: Modificar</a:t>
            </a:r>
          </a:p>
        </p:txBody>
      </p:sp>
      <p:sp>
        <p:nvSpPr>
          <p:cNvPr id="16" name="Crear grupos no aplica permisos SMB o NTFS: e">
            <a:extLst xmlns:a="http://schemas.openxmlformats.org/drawingml/2006/main">
              <a:ext uri="{FF2B5EF4-FFF2-40B4-BE49-F238E27FC236}">
                <a16:creationId xmlns:a16="http://schemas.microsoft.com/office/drawing/2014/main" id="{13BAED19-B8F8-4D3B-9FB6-52802DFC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Crear grupos no aplica permisos SMB o NTFS: esta relación expresa el diseño de accesos.</a:t>
            </a:r>
          </a:p>
        </p:txBody>
      </p:sp>
      <p:sp>
        <p:nvSpPr>
          <p:cNvPr id="17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CE753FF0-7A8E-4C8A-AED0-C9CFE36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08</a:t>
            </a:r>
          </a:p>
        </p:txBody>
      </p:sp>
    </p:spTree>
    <p:extLst>
      <p:ext uri="{BB962C8B-B14F-4D97-AF65-F5344CB8AC3E}">
        <p14:creationId xmlns:p14="http://schemas.microsoft.com/office/powerpoint/2010/main" val="86358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atriz de acceso a las carpetas">
            <a:extLst xmlns:a="http://schemas.openxmlformats.org/drawingml/2006/main">
              <a:ext uri="{FF2B5EF4-FFF2-40B4-BE49-F238E27FC236}">
                <a16:creationId xmlns:a16="http://schemas.microsoft.com/office/drawing/2014/main" id="{19B0B1CD-6C82-4A8D-969A-ED1BECB0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Matriz de acceso a las carpetas</a:t>
            </a:r>
          </a:p>
        </p:txBody>
      </p:sp>
      <p:sp>
        <p:nvSpPr>
          <p:cNvPr id="2" name="Cada departamento modifica su carpeta; Direcc">
            <a:extLst xmlns:a="http://schemas.openxmlformats.org/drawingml/2006/main">
              <a:ext uri="{FF2B5EF4-FFF2-40B4-BE49-F238E27FC236}">
                <a16:creationId xmlns:a16="http://schemas.microsoft.com/office/drawing/2014/main" id="{0B2F097A-C6F1-48C6-A93C-1666E074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Cada departamento modifica su carpeta; Dirección lee las otras cinco</a:t>
            </a:r>
          </a:p>
        </p:txBody>
      </p:sp>
      <p:sp>
        <p:nvSpPr>
          <p:cNvPr id="3" name="M = Modificar · L = Leer · — = Sin acceso con">
            <a:extLst xmlns:a="http://schemas.openxmlformats.org/drawingml/2006/main">
              <a:ext uri="{FF2B5EF4-FFF2-40B4-BE49-F238E27FC236}">
                <a16:creationId xmlns:a16="http://schemas.microsoft.com/office/drawing/2014/main" id="{EFB25D57-87E2-4041-A017-BDDFE04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B343"/>
                </a:solidFill>
                <a:latin typeface="Arial"/>
                <a:ea typeface="Arial"/>
                <a:cs typeface="Arial"/>
              </a:rPr>
              <a:t>M = Modificar · L = Leer · — = Sin acceso concedido por este diseño</a:t>
            </a:r>
          </a:p>
        </p:txBody>
      </p:sp>
      <p:sp>
        <p:nvSpPr>
          <p:cNvPr id="4" name="Se conservan los accesos administrativos nece">
            <a:extLst xmlns:a="http://schemas.openxmlformats.org/drawingml/2006/main">
              <a:ext uri="{FF2B5EF4-FFF2-40B4-BE49-F238E27FC236}">
                <a16:creationId xmlns:a16="http://schemas.microsoft.com/office/drawing/2014/main" id="{FB5EDF9E-3644-4616-8C06-5FBA08B7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Se conservan los accesos administrativos necesarios para gestionar los recursos.</a:t>
            </a:r>
          </a:p>
        </p:txBody>
      </p:sp>
      <p:sp>
        <p:nvSpPr>
          <p:cNvPr id="5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93E3C4A4-75EC-439B-B634-E58B6BDD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8CBAD-8F90-4F77-B597-9A51422DE00D}"/>
              </a:ext>
            </a:extLst>
          </p:cNvPr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109347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14450"/>
                <a:gridCol w="1314450"/>
                <a:gridCol w="1314450"/>
                <a:gridCol w="1314450"/>
                <a:gridCol w="1314450"/>
                <a:gridCol w="1314450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Recurso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DIR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ADM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COM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CMP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ALM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B343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T w="4763">
                      <a:solidFill>
                        <a:srgbClr val="344552"/>
                      </a:solidFill>
                      <a:prstDash val="solid"/>
                    </a:lnT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25333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Dirección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Administración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Compras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Almacén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090D1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Común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344552"/>
                      </a:solidFill>
                      <a:prstDash val="solid"/>
                    </a:lnL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1F3F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344552"/>
                      </a:solidFill>
                      <a:prstDash val="solid"/>
                    </a:lnR>
                    <a:lnB w="4763">
                      <a:solidFill>
                        <a:srgbClr val="344552"/>
                      </a:solidFill>
                      <a:prstDash val="solid"/>
                    </a:lnB>
                    <a:solidFill>
                      <a:srgbClr val="111A2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081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D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men del plan">
            <a:extLst xmlns:a="http://schemas.openxmlformats.org/drawingml/2006/main">
              <a:ext uri="{FF2B5EF4-FFF2-40B4-BE49-F238E27FC236}">
                <a16:creationId xmlns:a16="http://schemas.microsoft.com/office/drawing/2014/main" id="{F7148DA9-DF51-452E-9900-93BD2A1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0"/>
                </a:solidFill>
                <a:latin typeface="Arial"/>
                <a:ea typeface="Arial"/>
                <a:cs typeface="Arial"/>
              </a:rPr>
              <a:t>Resumen del plan</a:t>
            </a:r>
          </a:p>
        </p:txBody>
      </p:sp>
      <p:sp>
        <p:nvSpPr>
          <p:cNvPr id="2" name="Una estructura coherente para personas, puest">
            <a:extLst xmlns:a="http://schemas.openxmlformats.org/drawingml/2006/main">
              <a:ext uri="{FF2B5EF4-FFF2-40B4-BE49-F238E27FC236}">
                <a16:creationId xmlns:a16="http://schemas.microsoft.com/office/drawing/2014/main" id="{436F47B0-AD46-4A43-BDBB-22E5985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Una estructura coherente para personas, puestos y recursos</a:t>
            </a:r>
          </a:p>
        </p:txBody>
      </p:sp>
      <p:sp>
        <p:nvSpPr>
          <p:cNvPr id="3" name="22 OU     30 usuarios     18 grupos     21 eq">
            <a:extLst xmlns:a="http://schemas.openxmlformats.org/drawingml/2006/main">
              <a:ext uri="{FF2B5EF4-FFF2-40B4-BE49-F238E27FC236}">
                <a16:creationId xmlns:a16="http://schemas.microsoft.com/office/drawing/2014/main" id="{4D9B5FDB-BAAB-4EE5-94A9-DC536EA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5B34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B343"/>
                </a:solidFill>
                <a:latin typeface="Arial"/>
                <a:ea typeface="Arial"/>
                <a:cs typeface="Arial"/>
              </a:rPr>
              <a:t>22 OU     30 usuarios     18 grupos     21 equipos</a:t>
            </a:r>
          </a:p>
        </p:txBody>
      </p:sp>
      <p:sp>
        <p:nvSpPr>
          <p:cNvPr id="4" name="Una cuenta por empleado, incluso cuando compa">
            <a:extLst xmlns:a="http://schemas.openxmlformats.org/drawingml/2006/main">
              <a:ext uri="{FF2B5EF4-FFF2-40B4-BE49-F238E27FC236}">
                <a16:creationId xmlns:a16="http://schemas.microsoft.com/office/drawing/2014/main" id="{CAEBBCEC-C470-4F2C-B1CA-D5994552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1F3F0"/>
                </a:solidFill>
                <a:latin typeface="Arial"/>
                <a:ea typeface="Arial"/>
                <a:cs typeface="Arial"/>
              </a:rPr>
              <a:t>Una cuenta por empleado, incluso cuando comparte puesto.</a:t>
            </a:r>
          </a:p>
        </p:txBody>
      </p:sp>
      <p:sp>
        <p:nvSpPr>
          <p:cNvPr id="5" name="OU por departamento, con Usuarios y Equipos a">
            <a:extLst xmlns:a="http://schemas.openxmlformats.org/drawingml/2006/main">
              <a:ext uri="{FF2B5EF4-FFF2-40B4-BE49-F238E27FC236}">
                <a16:creationId xmlns:a16="http://schemas.microsoft.com/office/drawing/2014/main" id="{E582DD8A-87F0-4F12-A977-B838069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1F3F0"/>
                </a:solidFill>
                <a:latin typeface="Arial"/>
                <a:ea typeface="Arial"/>
                <a:cs typeface="Arial"/>
              </a:rPr>
              <a:t>OU por departamento, con Usuarios y Equipos al mismo nivel.</a:t>
            </a:r>
          </a:p>
        </p:txBody>
      </p:sp>
      <p:sp>
        <p:nvSpPr>
          <p:cNvPr id="6" name="Accesos mediante AGDLP: sin permisos directos">
            <a:extLst xmlns:a="http://schemas.openxmlformats.org/drawingml/2006/main">
              <a:ext uri="{FF2B5EF4-FFF2-40B4-BE49-F238E27FC236}">
                <a16:creationId xmlns:a16="http://schemas.microsoft.com/office/drawing/2014/main" id="{2AB4FE65-58B7-474F-AF24-23AC3DF3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1F3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1F3F0"/>
                </a:solidFill>
                <a:latin typeface="Arial"/>
                <a:ea typeface="Arial"/>
                <a:cs typeface="Arial"/>
              </a:rPr>
              <a:t>Accesos mediante AGDLP: sin permisos directos a empleados.</a:t>
            </a:r>
          </a:p>
        </p:txBody>
      </p:sp>
      <p:sp>
        <p:nvSpPr>
          <p:cNvPr id="7" name="Plan organizativo: la implementación y los co">
            <a:extLst xmlns:a="http://schemas.openxmlformats.org/drawingml/2006/main">
              <a:ext uri="{FF2B5EF4-FFF2-40B4-BE49-F238E27FC236}">
                <a16:creationId xmlns:a16="http://schemas.microsoft.com/office/drawing/2014/main" id="{DADBA796-F90A-45DF-8205-1E91E6C1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Plan organizativo: la implementación y los comandos se documentan en el HTML.</a:t>
            </a:r>
          </a:p>
        </p:txBody>
      </p:sp>
      <p:sp>
        <p:nvSpPr>
          <p:cNvPr id="8" name="Fuentes: ficha de la actividad 2.2 y Microsof">
            <a:extLst xmlns:a="http://schemas.openxmlformats.org/drawingml/2006/main">
              <a:ext uri="{FF2B5EF4-FFF2-40B4-BE49-F238E27FC236}">
                <a16:creationId xmlns:a16="http://schemas.microsoft.com/office/drawing/2014/main" id="{45370337-DE51-48B1-9CE1-27FA325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Fuentes: ficha de la actividad 2.2 y Microsoft Learn: Active Directory Security Groups.</a:t>
            </a:r>
          </a:p>
        </p:txBody>
      </p:sp>
      <p:sp>
        <p:nvSpPr>
          <p:cNvPr id="9" name="MADERAS NEXO / PLAN ORGANIZATIVO             ">
            <a:extLst xmlns:a="http://schemas.openxmlformats.org/drawingml/2006/main">
              <a:ext uri="{FF2B5EF4-FFF2-40B4-BE49-F238E27FC236}">
                <a16:creationId xmlns:a16="http://schemas.microsoft.com/office/drawing/2014/main" id="{537A1907-0D2F-44FD-92D8-4F129EBC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00825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AB7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7C0"/>
                </a:solidFill>
                <a:latin typeface="Arial"/>
                <a:ea typeface="Arial"/>
                <a:cs typeface="Arial"/>
              </a:rPr>
              <a:t>MADERAS NEXO / PLAN ORGANIZATIVO                                                   10</a:t>
            </a:r>
          </a:p>
        </p:txBody>
      </p:sp>
    </p:spTree>
    <p:extLst>
      <p:ext uri="{BB962C8B-B14F-4D97-AF65-F5344CB8AC3E}">
        <p14:creationId xmlns:p14="http://schemas.microsoft.com/office/powerpoint/2010/main" val="1893158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2026-10-30T13:43:50.5140000Z</dcterms:created>
  <dcterms:modified xsi:type="dcterms:W3CDTF">2026-10-30T13:43:50.5140000Z</dcterms:modified>
</coreProperties>
</file>